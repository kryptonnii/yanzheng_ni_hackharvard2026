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e240e94b324fc3" /><Relationship Type="http://schemas.openxmlformats.org/officeDocument/2006/relationships/extended-properties" Target="/docProps/app.xml" Id="R0c6c752bf6774ae5" /><Relationship Type="http://schemas.openxmlformats.org/officeDocument/2006/relationships/officeDocument" Target="/ppt/presentation.xml" Id="Re668aa5cc03a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2b06740a945b1"/>
  </p:sldMasterIdLst>
  <p:notesMasterIdLst>
    <p:notesMasterId xmlns:r="http://schemas.openxmlformats.org/officeDocument/2006/relationships" r:id="Rfdfa27b0c7704b8a"/>
  </p:notesMasterIdLst>
  <p:sldIdLst>
    <p:sldId xmlns:r="http://schemas.openxmlformats.org/officeDocument/2006/relationships" id="256" r:id="Rab6a391f7ef642e5"/>
    <p:sldId xmlns:r="http://schemas.openxmlformats.org/officeDocument/2006/relationships" id="257" r:id="R30d25f3e237642b3"/>
    <p:sldId xmlns:r="http://schemas.openxmlformats.org/officeDocument/2006/relationships" id="258" r:id="R45685aa02ee24044"/>
    <p:sldId xmlns:r="http://schemas.openxmlformats.org/officeDocument/2006/relationships" id="259" r:id="Rc62f6fd4b6d74187"/>
    <p:sldId xmlns:r="http://schemas.openxmlformats.org/officeDocument/2006/relationships" id="260" r:id="R3b078c656e7548ab"/>
    <p:sldId xmlns:r="http://schemas.openxmlformats.org/officeDocument/2006/relationships" id="261" r:id="R8b478c719b5b4c9e"/>
    <p:sldId xmlns:r="http://schemas.openxmlformats.org/officeDocument/2006/relationships" id="262" r:id="Re559199c51c045b8"/>
    <p:sldId xmlns:r="http://schemas.openxmlformats.org/officeDocument/2006/relationships" id="263" r:id="R2156de87ef5d4873"/>
    <p:sldId xmlns:r="http://schemas.openxmlformats.org/officeDocument/2006/relationships" id="264" r:id="R3f10fe2c8ee54ab8"/>
    <p:sldId xmlns:r="http://schemas.openxmlformats.org/officeDocument/2006/relationships" id="265" r:id="R686f62cbcc5e4325"/>
    <p:sldId xmlns:r="http://schemas.openxmlformats.org/officeDocument/2006/relationships" id="266" r:id="R33f431902bba4df1"/>
    <p:sldId xmlns:r="http://schemas.openxmlformats.org/officeDocument/2006/relationships" id="267" r:id="R2be8ae7470ef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ef4a356547448c" /><Relationship Type="http://schemas.openxmlformats.org/officeDocument/2006/relationships/slideMaster" Target="/ppt/slideMasters/slideMaster1.xml" Id="R3502b06740a945b1" /><Relationship Type="http://schemas.openxmlformats.org/officeDocument/2006/relationships/notesMaster" Target="/ppt/notesMasters/notesMaster1.xml" Id="Rfdfa27b0c7704b8a" /><Relationship Type="http://schemas.openxmlformats.org/officeDocument/2006/relationships/presProps" Target="/ppt/presProps.xml" Id="R53b0d4bc6fcb43b5" /><Relationship Type="http://schemas.openxmlformats.org/officeDocument/2006/relationships/tableStyles" Target="/ppt/tableStyles.xml" Id="Rbb981d8adbc0487f" /><Relationship Type="http://schemas.openxmlformats.org/officeDocument/2006/relationships/slide" Target="/ppt/slides/slide1.xml" Id="Rab6a391f7ef642e5" /><Relationship Type="http://schemas.openxmlformats.org/officeDocument/2006/relationships/slide" Target="/ppt/slides/slide2.xml" Id="R30d25f3e237642b3" /><Relationship Type="http://schemas.openxmlformats.org/officeDocument/2006/relationships/slide" Target="/ppt/slides/slide3.xml" Id="R45685aa02ee24044" /><Relationship Type="http://schemas.openxmlformats.org/officeDocument/2006/relationships/slide" Target="/ppt/slides/slide4.xml" Id="Rc62f6fd4b6d74187" /><Relationship Type="http://schemas.openxmlformats.org/officeDocument/2006/relationships/slide" Target="/ppt/slides/slide5.xml" Id="R3b078c656e7548ab" /><Relationship Type="http://schemas.openxmlformats.org/officeDocument/2006/relationships/slide" Target="/ppt/slides/slide6.xml" Id="R8b478c719b5b4c9e" /><Relationship Type="http://schemas.openxmlformats.org/officeDocument/2006/relationships/slide" Target="/ppt/slides/slide7.xml" Id="Re559199c51c045b8" /><Relationship Type="http://schemas.openxmlformats.org/officeDocument/2006/relationships/slide" Target="/ppt/slides/slide8.xml" Id="R2156de87ef5d4873" /><Relationship Type="http://schemas.openxmlformats.org/officeDocument/2006/relationships/slide" Target="/ppt/slides/slide9.xml" Id="R3f10fe2c8ee54ab8" /><Relationship Type="http://schemas.openxmlformats.org/officeDocument/2006/relationships/slide" Target="/ppt/slides/slide10.xml" Id="R686f62cbcc5e4325" /><Relationship Type="http://schemas.openxmlformats.org/officeDocument/2006/relationships/slide" Target="/ppt/slides/slide11.xml" Id="R33f431902bba4df1" /><Relationship Type="http://schemas.openxmlformats.org/officeDocument/2006/relationships/slide" Target="/ppt/slides/slide12.xml" Id="R2be8ae7470ef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2b5c93f56a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9017313ea44cb" /><Relationship Type="http://schemas.openxmlformats.org/officeDocument/2006/relationships/notesMaster" Target="/ppt/notesMasters/notesMaster1.xml" Id="R180ae9bba0b7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b6ec8941094454" /><Relationship Type="http://schemas.openxmlformats.org/officeDocument/2006/relationships/notesMaster" Target="/ppt/notesMasters/notesMaster1.xml" Id="R08fe02375b4c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caf90ef364826" /><Relationship Type="http://schemas.openxmlformats.org/officeDocument/2006/relationships/notesMaster" Target="/ppt/notesMasters/notesMaster1.xml" Id="R551ce675191248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7559475c0c44b4" /><Relationship Type="http://schemas.openxmlformats.org/officeDocument/2006/relationships/notesMaster" Target="/ppt/notesMasters/notesMaster1.xml" Id="R0c8882e72b6441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6cb658aa5f4059" /><Relationship Type="http://schemas.openxmlformats.org/officeDocument/2006/relationships/notesMaster" Target="/ppt/notesMasters/notesMaster1.xml" Id="R3860dd1bfff6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75fbeef3414f61" /><Relationship Type="http://schemas.openxmlformats.org/officeDocument/2006/relationships/notesMaster" Target="/ppt/notesMasters/notesMaster1.xml" Id="R3e05a8afabe240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ad85d5ff034f71" /><Relationship Type="http://schemas.openxmlformats.org/officeDocument/2006/relationships/notesMaster" Target="/ppt/notesMasters/notesMaster1.xml" Id="R094b943968824f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b2b8bb84f44243" /><Relationship Type="http://schemas.openxmlformats.org/officeDocument/2006/relationships/notesMaster" Target="/ppt/notesMasters/notesMaster1.xml" Id="Rdea9ff65c01b4f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b91c1c7cc4908" /><Relationship Type="http://schemas.openxmlformats.org/officeDocument/2006/relationships/notesMaster" Target="/ppt/notesMasters/notesMaster1.xml" Id="R4c3ebbc79c7d41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7041cb4d1c4626" /><Relationship Type="http://schemas.openxmlformats.org/officeDocument/2006/relationships/notesMaster" Target="/ppt/notesMasters/notesMaster1.xml" Id="Racfd68e50eea49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e3430298bb4aa8" /><Relationship Type="http://schemas.openxmlformats.org/officeDocument/2006/relationships/notesMaster" Target="/ppt/notesMasters/notesMaster1.xml" Id="R41602f4a231a4c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bb0d98c96a486e" /><Relationship Type="http://schemas.openxmlformats.org/officeDocument/2006/relationships/notesMaster" Target="/ppt/notesMasters/notesMaster1.xml" Id="R645d1ac21d4247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TrialPilot is an MIT-licensed hackathon prototype for inspecting operational consequences of study-design choices. Cost, site workload, patient travel and timeline come before carbon. We demonstrate local software behavior; no clinical outcomes, savings, production deployment or regulatory acceptance are claimed. [Build and scope](../README.md).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$19.0m figure is the historical median estimated direct cost per pivotal trial: 138 trials supporting 59 FDA approvals in 2015–2016. It is not a current invoice or TrialPilot saving. ASPE's 2014 report provides additional cost-driver context. Original Regeneron sheets were not supplied. [Moore et al.](https://pmc.ncbi.nlm.nih.gov/articles/PMC6248200/), [ASPE](https://aspe.hhs.gov/sites/default/files/migrated_legacy_files//44516/rpt_erg.pdf), [claim ledger](EVIDENCE.md).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recording imports BOREAS NCT03930732 and uses a cached protocol transcription, not a measured live LLM extraction. Accept all remaining records bulk acceptance; it does not establish accuracy or clinical review. Empty weeks are rejected. Re-import preserves an already confirmed protocol unless the user explicitly requests replacement. The final regression also covers previously unseeded NOTUS NCT04456673. [Runbook](DEMO_RUNBOOK.md), [A4](../handoffs/A4.md).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choices are hypothetical operating inputs, not a clinical recommendation. We avoid changing patient visits or removing procedures without eligibility review. Read computed ranges as model output, never observed savings. The frontend disables saving during a pending calculation and saves the computed levers and explicit design version; stale design edits receive a visible conflict. [Frontend evidence](../handoffs/FRONTEND_FINAL.md).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P10/P50/P90 are conditional model quantiles without demonstrated real-world coverage. Forecast and supply have distinct sampling paths; use the displayed counts, not an assumed 2,000 everywhere. Recruitment, dropout, supply look-ahead and stockout limitations remain. [Engine method](model.md), [forecast and supply method](model_forecast.md), [sources](sources.md).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40-site demonstration combines synthetic EDC, CTMS, IRT, travel and courier feeds. The open week is excluded from completed-week curves; country bands sum site bands, and backup-site plans remain zero. A difference-in-differences estimate relies on its comparison group and assumptions. Its verdict is not a clinical causal conclusion. [Methods](model_forecast.md), [runbook](DEMO_RUNBOOK.md).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Alex, Riley and Sam are fictional identities exercised by automation. An Approved scenario in this video demonstrates workflow controls, not human QA approval of TrialPilot or the validation report. A role switcher is not production authentication; a hash chain does not prevent a privileged rewrite of the entire database. [Frontend checks](../handoffs/FRONTEND_FINAL.md), [validation scope](EVIDENCE.md).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is science/out/results.json, parameter set 1249d0f0eed8, seed 7, 2,000 draws. CASPS: published 71,938.8 kg; engine/library P10 64,601.50, P50 88,758.48, P90 123,510.08 kg CO2e. PRIMETIME: published 89,360.2 kg; engine/library 87,891.34 / 109,685.91 / 142,685.69 kg. Drug_supply is excluded from this comparison. Paper arithmetic separately gives +0.01% / −0.16%; library-factor ledger checks are different from full-engine checks. Direct and WTT components are counted once each. PRIMETIME visits cover all 1,962 rather than the 1,623 subgroup; hospital utilities, some sample activity and audits are missing. Old +5%/+7% results are obsolete. Carbon checks do not validate cost or forecast accuracy. [Generated results](../science/out/results.json), [published method, CC BY 4.0](https://pmc.ncbi.nlm.nih.gov/articles/PMC10823997/), [backend version](../handoffs/BACKEND_FINAL.md).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Validation page reads the package metadata, not hardcoded historical counts. Inspect execution, failures, artifact hashes and QA state. Automated fixture signatures do not establish human sign-off. The historical 6/6 planted-defect experiment at d616645 was not blind and is not a result for this code. Human effort and live LLM accuracy remain unmeasured. [Final execution scope](EVIDENCE.md), [package path](../handoffs/BACKEND_FINAL.md).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titles come from the supplied A11 brief. The original sponsor sheets remain unavailable; this mapping does not verify their exact wording or submission rules. Each workflow shown has real API browser evidence, with synthetic and draft boundaries retained. [Missing sheet evidence](EVIDENCE.md#unavailable-sheet-evidence).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vendor descriptions, not a head-to-head evaluation or a claim of first-of-kind capability. SHC/iLCCT's calculator was developed with Pistoia participation. [Evinova](https://evinova.com/dds), [carbon offering](https://evinova.com/carbon), [Pistoia](https://pistoiaalliance.org/news/launches-sustainability-initiative/), [Medidata](https://www.medidata.com/en/clinical-trial-products/clinical-operations/rbqm/centralized-monitoring/), [ValGenesis](https://www.valgenesis.com/blog/valgenesis-vlms-5.0-next-gen-validation-lifecycle-management).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deployment URL, Docker validation, real LLM accuracy, human review timing or human QA approval is established. Keep any final performance failure visible. A pilot needs prospective acceptance criteria and clinical review of allowed changes. SMI reporting mapping remains future work, not demonstrated conformity. [Limitations](../README.md#limitations), [SMI context](https://a.storyblok.com/f/109506/x/0245e71cdc/smi-ceo-cro-letter-_-february-2025.pdf), [final handoff](../handoffs/FRONTEND_FINAL.md).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narrative and sources: docs/DECK.md. Evidence snapshot: validation/out/clean-clone/20261017T041438Z. Science source: science/out/results.json at e5c386b1fb0b6edf362bf5d37b97cc17066dfd07. Captures are the actual local app with real API; operations are synthetic; identities are fictional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cf3167da047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9036ac8854b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a1c19dedb47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d8fa117aa46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960a23d104c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0435137b8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E3E578-EE53-477A-92BE-9C46144AD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B7D9AE-D400-48AE-B4D4-7B7A5D80D1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2D8ECA-EF24-4FC9-931B-37B1F3F6E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5D61F1-BABF-4D0D-BEAB-03125F18A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8D501F-DB89-47CA-BC34-C5B95D093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0C3F60-4542-45F1-AC07-81905498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7350BA-C95B-4275-A3B5-14F48A227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74C967-B37B-4130-BD3A-67AE417FEC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DC1E20-0405-4076-BB52-02478CA58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C09AA1-7988-464E-B83D-10BC1EE55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c1a6c8b7b94357" /><Relationship Type="http://schemas.openxmlformats.org/officeDocument/2006/relationships/slideLayout" Target="/ppt/slideLayouts/slideLayout1.xml" Id="Rbe3451b41aeb4226" /><Relationship Type="http://schemas.openxmlformats.org/officeDocument/2006/relationships/slideLayout" Target="/ppt/slideLayouts/slideLayout2.xml" Id="R06ddd3452bed453b" /><Relationship Type="http://schemas.openxmlformats.org/officeDocument/2006/relationships/slideLayout" Target="/ppt/slideLayouts/slideLayout3.xml" Id="R77e2b8fcfcba44e2" /><Relationship Type="http://schemas.openxmlformats.org/officeDocument/2006/relationships/slideLayout" Target="/ppt/slideLayouts/slideLayout4.xml" Id="Ra8d99957067e4150" /><Relationship Type="http://schemas.openxmlformats.org/officeDocument/2006/relationships/slideLayout" Target="/ppt/slideLayouts/slideLayout5.xml" Id="Rad2ffbec93ef4143" /><Relationship Type="http://schemas.openxmlformats.org/officeDocument/2006/relationships/slideLayout" Target="/ppt/slideLayouts/slideLayout6.xml" Id="R38ee7dbb8ff34d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3451b41aeb4226"/>
    <p:sldLayoutId xmlns:r="http://schemas.openxmlformats.org/officeDocument/2006/relationships" id="2147483650" r:id="R06ddd3452bed453b"/>
    <p:sldLayoutId xmlns:r="http://schemas.openxmlformats.org/officeDocument/2006/relationships" id="2147483651" r:id="R77e2b8fcfcba44e2"/>
    <p:sldLayoutId xmlns:r="http://schemas.openxmlformats.org/officeDocument/2006/relationships" id="2147483652" r:id="Ra8d99957067e4150"/>
    <p:sldLayoutId xmlns:r="http://schemas.openxmlformats.org/officeDocument/2006/relationships" id="2147483653" r:id="Rad2ffbec93ef4143"/>
    <p:sldLayoutId xmlns:r="http://schemas.openxmlformats.org/officeDocument/2006/relationships" id="2147483654" r:id="R38ee7dbb8ff34d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7d4c53ee148b7" /><Relationship Type="http://schemas.openxmlformats.org/officeDocument/2006/relationships/notesSlide" Target="/ppt/notesSlides/notesSlide1.xml" Id="R37afbb2aadfb46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c65124beb4a1a" /><Relationship Type="http://schemas.openxmlformats.org/officeDocument/2006/relationships/notesSlide" Target="/ppt/notesSlides/notesSlide2.xml" Id="Rf40090a3446f47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5977a22a54569" /><Relationship Type="http://schemas.openxmlformats.org/officeDocument/2006/relationships/image" Target="/ppt/media/image.png" Id="R5cda6047b3d44449" /><Relationship Type="http://schemas.openxmlformats.org/officeDocument/2006/relationships/notesSlide" Target="/ppt/notesSlides/notesSlide3.xml" Id="R0e8ad540ae8c44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b95d518db4430" /><Relationship Type="http://schemas.openxmlformats.org/officeDocument/2006/relationships/image" Target="/ppt/media/image2.png" Id="Rb53e87d206da40fc" /><Relationship Type="http://schemas.openxmlformats.org/officeDocument/2006/relationships/notesSlide" Target="/ppt/notesSlides/notesSlide4.xml" Id="R77c7beafb6894f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df49485dc4302" /><Relationship Type="http://schemas.openxmlformats.org/officeDocument/2006/relationships/image" Target="/ppt/media/image3.png" Id="R19aa0bdd02ea4579" /><Relationship Type="http://schemas.openxmlformats.org/officeDocument/2006/relationships/notesSlide" Target="/ppt/notesSlides/notesSlide5.xml" Id="Rac1693890b314d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475029fa044a1" /><Relationship Type="http://schemas.openxmlformats.org/officeDocument/2006/relationships/image" Target="/ppt/media/image4.png" Id="Ra98274dc61e94750" /><Relationship Type="http://schemas.openxmlformats.org/officeDocument/2006/relationships/notesSlide" Target="/ppt/notesSlides/notesSlide6.xml" Id="R95b4e60d1cec46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3615e75a64de9" /><Relationship Type="http://schemas.openxmlformats.org/officeDocument/2006/relationships/image" Target="/ppt/media/image5.png" Id="R69657a925510444c" /><Relationship Type="http://schemas.openxmlformats.org/officeDocument/2006/relationships/notesSlide" Target="/ppt/notesSlides/notesSlide7.xml" Id="R813c0e79ed5f4f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45daf658c4569" /><Relationship Type="http://schemas.openxmlformats.org/officeDocument/2006/relationships/notesSlide" Target="/ppt/notesSlides/notesSlide8.xml" Id="R6bd9d2c4777149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4194979454f8f" /><Relationship Type="http://schemas.openxmlformats.org/officeDocument/2006/relationships/image" Target="/ppt/media/image6.png" Id="R7c42d391990b4a6c" /><Relationship Type="http://schemas.openxmlformats.org/officeDocument/2006/relationships/notesSlide" Target="/ppt/notesSlides/notesSlide9.xml" Id="R8c9a63a3f1b94a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4d8fc67cc4919" /><Relationship Type="http://schemas.openxmlformats.org/officeDocument/2006/relationships/notesSlide" Target="/ppt/notesSlides/notesSlide10.xml" Id="R009700c7514348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4621ae83e4b65" /><Relationship Type="http://schemas.openxmlformats.org/officeDocument/2006/relationships/notesSlide" Target="/ppt/notesSlides/notesSlide11.xml" Id="Rcf3be263bcef40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97670ed0340bb" /><Relationship Type="http://schemas.openxmlformats.org/officeDocument/2006/relationships/notesSlide" Target="/ppt/notesSlides/notesSlide12.xml" Id="R5c20e07183e44e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C4E0B-2402-40C0-A3E7-2635E03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D4C6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DE99C-5D7F-42BD-A211-17C165D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AD8DC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EDDC2-BC93-4D61-A034-7500CCFA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TrialPilot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B14A2-A293-4962-844C-94C16601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10572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Clinical trial choices.</a:t>
            </a:r>
          </a:p>
          <a:p xmlns:a="http://schemas.openxmlformats.org/drawingml/2006/main">
            <a: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assumptions.</a:t>
            </a:r>
          </a:p>
          <a:p xmlns:a="http://schemas.openxmlformats.org/drawingml/2006/main">
            <a:pPr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you can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2B29D-7B94-4D37-AD68-F9A043F1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7D4C6"/>
                </a:solidFill>
                <a:latin typeface="Arial"/>
                <a:ea typeface="Arial"/>
                <a:cs typeface="Arial"/>
              </a:rPr>
              <a:t>Planning • synthetic operations • software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2CFCA-BF65-4235-878F-B32C5E36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AD8DC"/>
                </a:solidFill>
                <a:latin typeface="Arial"/>
                <a:ea typeface="Arial"/>
                <a:cs typeface="Arial"/>
              </a:rPr>
              <a:t>MIT prototype  |  Local real-API demo  |  No production or clinical outcome claim</a:t>
            </a:r>
          </a:p>
        </p:txBody>
      </p:sp>
    </p:spTree>
    <p:extLst>
      <p:ext uri="{BB962C8B-B14F-4D97-AF65-F5344CB8AC3E}">
        <p14:creationId xmlns:p14="http://schemas.microsoft.com/office/powerpoint/2010/main" val="727183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BC9FB-F719-4D00-A457-1D0F9B6F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0768B-6D2A-4E07-9B42-E3AAD9E1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A4DC-622D-436A-9C8B-04E6A6D7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Decisions with real operational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3CCC-67C3-48FB-90E8-3E714D0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590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$19.0m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79248-776E-4AEA-B5BB-30AEBFD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Historical median estimated direct cost</a:t>
            </a:r>
          </a:p>
          <a:p xmlns:a="http://schemas.openxmlformats.org/drawingml/2006/main">
            <a:pPr>
              <a:defRPr sz="22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per pivotal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5BE1-F61E-49D6-B000-53470E9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Procedures and site activity are major historical cost drivers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D2DDB-53A1-4F5D-81A8-D75DE652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Monitoring and supply choices change resource 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89887-DBA1-4795-9987-3AE4EBE2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Start with workload and timing, then inspect carbon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86900-F820-4C09-958E-B13CBDF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138 trials • 59 approvals • 2015–2016 cohort</a:t>
            </a:r>
          </a:p>
          <a:p xmlns:a="http://schemas.openxmlformats.org/drawingml/2006/main">
            <a:pPr>
              <a:defRPr sz="15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Moore et al., JAMA Internal Medicine (2018)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DBE5E-D8AA-4DB6-B36D-226FEB4B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449806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7CABB-5927-4CF1-9B98-881A1BC8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58173-D56B-4E49-86DD-B41BDD8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3ADF1-C93C-436B-BDDE-54940394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Import, review, save the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803E4-F12A-415F-B27F-0B7AF5B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Registry facts stay separate from missing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F0634-C1DC-4523-B6AB-DC3489A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Protocol candidates expose page and quotation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3A2E7-95E1-445B-9EAD-EF43E7D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Apply reviewed rows to a new saved design version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27199-E2D1-4893-A1F7-0E2459AA7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a6047b3d44449"/>
          <a:stretch xmlns:a="http://schemas.openxmlformats.org/drawingml/2006/main"/>
        </p:blipFill>
        <p:spPr>
          <a:xfrm xmlns:a="http://schemas.openxmlformats.org/drawingml/2006/main">
            <a:off x="4044315" y="1809750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80F7B-C0C7-43EF-92F0-E72EA95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886229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2B0DC-40C9-44B5-B4BF-FFDBC1B5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0CE6B-CDE0-4F24-8C4B-012C0D5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9DED2-DC96-47EB-9ED6-DF4B4E1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Compare the consequences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71FB7-7C3F-4F84-8FB1-E9A3D76F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Cost, site hours, patient travel, duration and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72F3D-E595-463C-AF17-80AE8B2B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50% remote monitoring plus on-demand supply in this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598C4-0468-4868-8650-32514FD5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Calculation and saved result use the same design version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787F8-7CD7-4D44-A431-D3AC9AB12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e87d206da40fc"/>
          <a:stretch xmlns:a="http://schemas.openxmlformats.org/drawingml/2006/main"/>
        </p:blipFill>
        <p:spPr>
          <a:xfrm xmlns:a="http://schemas.openxmlformats.org/drawingml/2006/main">
            <a:off x="4044315" y="1809750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58C33-9703-4301-BFDA-73032A3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036002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9B2BE-21A1-41E8-A3C1-7C057FCF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BA51F-F09D-4004-89E5-B8B45C5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887E3-31AF-4223-A77C-A557988E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Inspect every estimate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424C4-C808-4799-BB41-12A0C17D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Open formulas, inputs, cited parameters and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47DE6-14B3-44D4-B525-EAAC8D3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Forecast and supply report requested and actual draw counts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5FF67-4F06-4194-8570-4114FFC1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Missing data stays unknown; curve gaps remain gaps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1B9C8-D041-49E4-BAC8-193928978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a0bdd02ea4579"/>
          <a:stretch xmlns:a="http://schemas.openxmlformats.org/drawingml/2006/main"/>
        </p:blipFill>
        <p:spPr>
          <a:xfrm xmlns:a="http://schemas.openxmlformats.org/drawingml/2006/main">
            <a:off x="4044315" y="1809750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E2525-9587-4003-BBE9-B74360A4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588235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E3F65-09AF-4DFD-A76B-CE30172E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B853F-93F9-44BD-88EB-8BB2C834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8F175-95A4-42AC-8C8A-35FF6A76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Act on a synthetic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FB171-D94E-4E52-A211-96DE1F23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Sites and countries show completed-week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7B269-B3FE-4B13-9174-6F605D0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Acknowledge overstock, assign an intervention, start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2B1A-0B5A-40A0-9762-208B07A7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Advance six simulated weeks and inspect the effect interval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DF8FD-B911-4316-B852-86A2BFEAA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274dc61e94750"/>
          <a:stretch xmlns:a="http://schemas.openxmlformats.org/drawingml/2006/main"/>
        </p:blipFill>
        <p:spPr>
          <a:xfrm xmlns:a="http://schemas.openxmlformats.org/drawingml/2006/main">
            <a:off x="4044315" y="1809750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18BE6-FC11-42D4-8ABC-F920FAC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34742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54300-1B62-4E0B-A8D9-CA35B00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D51C5-3E21-4DB4-9AB9-8F815B5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96D63-4D5F-4DF1-B80E-7B3DBE4D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Bind review to the saved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B3AE-F185-46AF-A570-640A1FF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Self-approval is rejected by the real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981B2-DE0F-4CB6-AF96-13EAC80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Reviewer then QA demo signatures bind the record hash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335FD-4262-42B2-B164-4B8D3FE1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Verify the current audit chain and inspect its entries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C3CFC-A7C0-4955-ADE0-73A2646E95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57a925510444c"/>
          <a:stretch xmlns:a="http://schemas.openxmlformats.org/drawingml/2006/main"/>
        </p:blipFill>
        <p:spPr>
          <a:xfrm xmlns:a="http://schemas.openxmlformats.org/drawingml/2006/main">
            <a:off x="4044315" y="1809750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E99F2-EF14-4FA5-A298-38C1459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723889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00F0E-E98C-4B3F-8B80-4F7CED5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75BE3-3854-4B07-9451-63A269C2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92103-BC91-4096-A7AA-164D1355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Science: show the remaining gap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A7F8D-93DA-4DAB-A6F9-5B1654C981D8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952625"/>
                <a:gridCol w="2047875"/>
                <a:gridCol w="3409950"/>
                <a:gridCol w="2000250"/>
              </a:tblGrid>
              <a:tr h="673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kg CO2e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Published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Engine P50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P10–P90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CASPS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71,938.8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88,758.48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64,601–123,510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+23.38%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PRIMETIME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89,360.2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109,685.91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87,891–142,686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+22.75%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D91A5-2A1C-4E5D-B254-0A249D4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Engine + library factors; excludes drug_supply extension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22422-F3F6-4D5F-9C1D-C36C8DC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Seed 7 • 2,000 draws • parameter set 1249d0f0eed8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0989E-51CD-40CE-B101-55F7B489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Paper arithmetic: +0.01% / −0.16%. Module gaps remain; range coverage is not model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688F1-27EF-4DFE-9737-45B3FAE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569075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3ED20-AFB9-4595-B9F4-4220FBDC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DF5C7-3F3D-4ADB-BF53-7446CD4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7451B-8B3F-4C6A-B182-C4905CE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Evidence with its exact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23434-4529-4194-BDE2-4B58418C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Read the package's actual tested commit and 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68C06-7267-4428-9F9C-05B704BD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Keep failed checks and traceability gaps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61DFE-9776-442A-92C0-EA5EFADF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Download evidence; report remains awaiting QA approval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DAE8C-1D95-48DD-94B9-26F353E48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2d391990b4a6c"/>
          <a:stretch xmlns:a="http://schemas.openxmlformats.org/drawingml/2006/main"/>
        </p:blipFill>
        <p:spPr>
          <a:xfrm xmlns:a="http://schemas.openxmlformats.org/drawingml/2006/main">
            <a:off x="4044315" y="1809750"/>
            <a:ext cx="7284720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C666B-11E5-4A14-A91E-C2019D87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264940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97D4A-1965-4CEA-925D-8069E8DE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2D181-405D-47C4-8FE9-AFC52BD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DFDBC-C574-47E1-91DC-8C08992C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Three challenge workflows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F16EA-7128-4D38-9995-C6E26395DE6E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74370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Brief-provided challenge title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Demonstrated workflow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Choose Your Timeline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Version-bound scenarios + forecast assumptions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One Screen to Rule Them All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Synthetic site / country signals + interventions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Software Speedrun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Executed checks + downloadable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B594E-A415-4A9C-8E9A-A7B470F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Original sponsor sheets were not supplied; title attribution remains unverified.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9327D-F860-4DA8-B62D-A0E6223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50138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E61F5-5815-4CBD-ABEC-F6220C01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65241-8468-423C-B661-0CE2384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537A2-9ACF-4708-9251-F01C2C5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Existing tools, an inspectable prototype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FC2C8-CF84-429C-A83E-C5866904FB51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3627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Existing category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T w="9525">
                      <a:solidFill>
                        <a:srgbClr val="D7E3E0"/>
                      </a:solidFill>
                      <a:prstDash val="solid"/>
                    </a:lnT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142D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Multi-metric design / carbon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Evinova; SHC / iLCCT calculator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Clinical monitoring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Medidata centralized monitoring / RBQM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5F8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Validation lifecycle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0"/>
                      </a:solidFill>
                      <a:prstDash val="solid"/>
                    </a:lnL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38"/>
                          </a:solidFill>
                          <a:latin typeface="Arial"/>
                          <a:ea typeface="Arial"/>
                          <a:cs typeface="Arial"/>
                        </a:rPr>
                        <a:t>ValGenesis iVal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0"/>
                      </a:solidFill>
                      <a:prstDash val="solid"/>
                    </a:lnR>
                    <a:lnB w="9525">
                      <a:solidFill>
                        <a:srgbClr val="D7E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08CF5-5B42-4B58-84D8-8A425218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7A"/>
                </a:solidFill>
                <a:latin typeface="Arial"/>
                <a:ea typeface="Arial"/>
                <a:cs typeface="Arial"/>
              </a:rPr>
              <a:t>Our focus: an inspectable MIT implementation connecting these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68F91-8DC4-49A2-8E37-788369A0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9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971"/>
                </a:solidFill>
                <a:latin typeface="Arial"/>
                <a:ea typeface="Arial"/>
                <a:cs typeface="Arial"/>
              </a:rPr>
              <a:t>Prototype • tested code e5c386b • details and sources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2422149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FB62C-8838-40C3-AE5B-8088D1D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7D4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7D4C6"/>
                </a:solidFill>
                <a:latin typeface="Arial"/>
                <a:ea typeface="Arial"/>
                <a:cs typeface="Arial"/>
              </a:rPr>
              <a:t>TRIALPILOT  /  HACKHARVARD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90D63-A26A-4357-9F40-59E0A4AC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AD8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AD8D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D7B55-70AD-481F-9C29-79C4A864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bounded pilot, with open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1ED33-8528-4613-9E5A-6A14805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Calibrate against permitted sponsor and site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7C3CF-C66E-4F6C-B168-F31F6B7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 live extraction quality and human review effort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9B1D6-3A52-4AB1-A6A3-95352E89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production identity, deployment checks and independent 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18CA5-D9E2-4BB2-AA53-CE564FA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7D4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7D4C6"/>
                </a:solidFill>
                <a:latin typeface="Arial"/>
                <a:ea typeface="Arial"/>
                <a:cs typeface="Arial"/>
              </a:rPr>
              <a:t>Next: a permitted-data pilot with sponsor and site teams.</a:t>
            </a:r>
          </a:p>
        </p:txBody>
      </p:sp>
    </p:spTree>
    <p:extLst>
      <p:ext uri="{BB962C8B-B14F-4D97-AF65-F5344CB8AC3E}">
        <p14:creationId xmlns:p14="http://schemas.microsoft.com/office/powerpoint/2010/main" val="1789492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2026-10-17T04:30:44.8130000Z</dcterms:created>
  <dcterms:modified xsi:type="dcterms:W3CDTF">2026-10-17T04:30:44.8140000Z</dcterms:modified>
</coreProperties>
</file>